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Opening, 1.5 min. Start with the problem, not the technology.</a:t>
            </a:r>
          </a:p>
          <a:p>
            <a:r>
              <a:t>One-line claim: Primary-care physicians do not lack guidelines; they lack an evidence chain they can follow and 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three facts without technical detail.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analogy to set up the “generalizable value” argument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why we did not rebuild retrieval.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matters — stating what is ours versus the platform's is more professional than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first, solution second.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method. Overview here, key code on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substantive piece. Frame it as a safety issue, not a parsing trick.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change with a large effect: clause hit rate 82.2% →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points: (1) the other two documents were never used to design the ontology — a clean hold-out; (2) human intervention rate is 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kg_consult_decision.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we did not merely “call MCP” — we understood the protocol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UI evidence — the agent loads the Skill on its own. That is what proves the Skill is actually in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strongest narrative: found → located → fixed → quantified.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processing is an official requirement. Highlight the corpus cleaning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browser. Pre-load the three questions into the clipboard. Fall back to the recording if the network misbehaves.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evidence for “reusable Skill workflow template”.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rigour: state what can and cannot be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strongest slide. The point is not “what we built” but “what happens without it”.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Closing, 30 s. Do not drag.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Q&amp;A. See Section 4 of the defense framework for 10 prepared answers.</a:t>
            </a:r>
          </a:p>
          <a:p>
            <a:r>
              <a:t>Three principles: quote data when you have it · state boundaries when they exist · admit when you do not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Evidence-Chained Pulmonary Nodule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FD4EA"/>
                </a:solidFill>
                <a:latin typeface="Calibri"/>
              </a:rPr>
              <a:t>— Making clinical guidelines executable and auditable at the point of 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023360"/>
            <a:ext cx="2286000" cy="25400"/>
          </a:xfrm>
          <a:prstGeom prst="rect">
            <a:avLst/>
          </a:prstGeom>
          <a:solidFill>
            <a:srgbClr val="7FA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D6E3F0"/>
                </a:solidFill>
                <a:latin typeface="Calibri"/>
              </a:rPr>
              <a:t>Track 3: Building an Evolvable Decision Agent with Huawei ModelEngine Nexent</a:t>
            </a:r>
          </a:p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D6E3F0"/>
                </a:solidFill>
                <a:latin typeface="Calibri"/>
              </a:rPr>
              <a:t>11th Huawei ICT Competition · China National Final Defense</a:t>
            </a:r>
          </a:p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D6E3F0"/>
                </a:solidFill>
                <a:latin typeface="Calibri"/>
              </a:rPr>
              <a:t>[University] · 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 The Gap Between “Detecting a Nodule” and “Deciding What to Do”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Business Value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0"/>
                <a:gridCol w="4937760"/>
              </a:tblGrid>
              <a:tr h="5257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Imaging AI detects nodules, but output stops at a screening 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It does not answer “what should be done”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Guidelines specify what to do, but they are prose written for humans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They cannot be mapped onto an individual report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LLMs answer accurately enough, but their answers are not auditable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A physician cannot defend a recommendation with no provenance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977639"/>
            <a:ext cx="10881360" cy="1051560"/>
          </a:xfrm>
          <a:prstGeom prst="rect">
            <a:avLst/>
          </a:prstGeom>
          <a:solidFill>
            <a:srgbClr val="F2F5F9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A365D"/>
                </a:solidFill>
                <a:latin typeface="Calibri"/>
              </a:defRPr>
            </a:pPr>
            <a:r>
              <a:t>Together they form a blind spot: “after detection, before decision”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Our claim: primary-care physicians do not lack guidelines — they lack an evidence chain they can follow and cite.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2. This Is Not a Niche Problem — A Shared Structural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Business Value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Four industries share the same document structure: «clause-based rules + threshold conditions + actions»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0"/>
              </a:tblGrid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The same gap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Guidelines say what to do, but a consultation lasts 3 minutes and the guideline is 14 pages of prose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Credit policy is explicit, but a relationship manager cannot check every deal clause by clause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Manufacturing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Equipment manuals contain procedures, but operators do not open them during a fault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Public services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Service guides are published online, but counter staff still rely on experience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365D"/>
                </a:solidFill>
                <a:latin typeface="Calibri"/>
              </a:rPr>
              <a:t>Our contribution is not “a pulmonary nodule agent”, but a reproducible pipeline from industry documents to executable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 Overall Design: Four Layers + Dual Retrieval–Reasoning Drive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Orchestration &amp; MCP/Skill Integration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315200"/>
                <a:gridCol w="2103120"/>
              </a:tblGrid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Provided by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Pulmonary nodule management agent (county hospitals, community clinics)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This project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Agent runtime · knowledge-base retrieval · MCP ecosystem · tiered memory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Nexent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Domain ontology · knowledge graph · multi-hop reasoning · clause-level provenance · 6 MCP tools · Skill orchestration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This project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3 public guidelines + 1 structured table + 1 sample imaging report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Public sources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709160"/>
            <a:ext cx="10881360" cy="1051560"/>
          </a:xfrm>
          <a:prstGeom prst="rect">
            <a:avLst/>
          </a:prstGeom>
          <a:solidFill>
            <a:srgbClr val="F2F5F9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  <a:latin typeface="Calibri"/>
              </a:defRPr>
            </a:pPr>
            <a:r>
              <a:t>The platform provides retrieval, but not structured domain reasoning.</a:t>
            </a:r>
            <a:br/>
            <a:r>
              <a:t>Rather than rebuilding retrieval, we added graph reasoning and clause-level provenance where the platform had a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4. Capability Attribution: Drawing the Boundary Explicitly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Orchestration &amp; MCP/Skill Integration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4457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Provided by Nexent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Agent runtime &amp; orchestration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Knowledge-base retrieval (3 modes + rerank)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Citation &amp; provenance (knowledge level)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MCP tool ecosystem &amp; management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Tiered memory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Elasticsearch vector retrieval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Multimodal model integration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60020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4457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Developed in this project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Domain ontology (OWL, 57 classes)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Knowledge graph (triples + multi-hop)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Clause-level provenance &amp; refusal fallback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6 MCP tools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Skill three-layer orchestration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Semi-automated ontology construction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Corpus cleaning &amp; data governance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7A4D"/>
                </a:solidFill>
                <a:latin typeface="Calibri"/>
              </a:rPr>
              <a:t>Platform capability + our increment = dual retrieval–reasoning drive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5. Knowledge Graph Construction: The Low-Resource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Algorithmic Innovation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A365D"/>
                </a:solidFill>
                <a:latin typeface="Calibri"/>
              </a:rPr>
              <a:t>① No public standard ontology exists for this clinical domain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    General ontologies (e.g. SNOMED) are broad but lack the “guideline clause” layer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A365D"/>
                </a:solidFill>
                <a:latin typeface="Calibri"/>
              </a:rPr>
              <a:t>② Manual ontology construction is prohibitively expensive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    At 90 s per triple, a single consensus document takes over 3 hours of expert time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A365D"/>
                </a:solidFill>
                <a:latin typeface="Calibri"/>
              </a:rPr>
              <a:t>③ Guidelines evolve, so the ontology must evolve too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    The 2024 → 2025 consensus revision cannot be absorbed by a static knowledge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6. Three-Layer Construction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Algorithmic Innovation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523488" cy="13716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L1</a:t>
            </a:r>
            <a:br/>
            <a:r>
              <a:t>Seed ontology</a:t>
            </a:r>
            <a:br/>
            <a:r>
              <a:t>(52 classes, manual)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3568" y="2029968"/>
            <a:ext cx="2011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6B6B"/>
                </a:solidFill>
              </a:defRPr>
            </a:pPr>
            <a: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4736" y="1920240"/>
            <a:ext cx="3523488" cy="13716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L2</a:t>
            </a:r>
            <a:br/>
            <a:r>
              <a:t>Constrained extraction</a:t>
            </a:r>
            <a:br/>
            <a:r>
              <a:t>(split → extract → align)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8224" y="2029968"/>
            <a:ext cx="2011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6B6B"/>
                </a:solidFill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9391" y="1920240"/>
            <a:ext cx="3523488" cy="13716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L3</a:t>
            </a:r>
            <a:br/>
            <a:r>
              <a:t>Human review loop</a:t>
            </a:r>
            <a:br/>
            <a:r>
              <a:t>(candidate pool)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70332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754880"/>
                <a:gridCol w="53949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design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Manually define the seed ontology (52 classes / 5 relations)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Provides an alignment target instead of letting the model run free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Clause splitting → entity/relation extraction → forced alignment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Extracted concepts must align to the seed ontology, otherwise discarded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Unaligned items enter a candidate pool for human review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Ontology version +1 then realign — this is how “evolvable” is realised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 Key Code (1/2): Splitting Main Recommendation from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Algorithmic Innovation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Problem: clauses contain qualifiers. Extracting the whole paragraph attaches “surgical resection” to a follow-up clause — automating overtreatment.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0881360" cy="237744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Recommendation 14 (verbatim):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  "...if the mixed nodule enlarges or its solid component increases,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   malignancy is likely: consider RESECTION rather than non-surgical biopsy."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Extracting the whole paragraph wrongly attaches "surgical resection"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to the follow-up clause.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CAVEAT_MARKERS = ["follow-up note", "note that", "caution", "if", "when"]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def _split_main_and_caveat(text):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"""Split a clause into its main recommendation and its caveats."""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for marker in CAVEAT_MARKERS: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    idx = text.find(marker)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    if idx &gt; 0: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        return text[:idx], text[idx:]      # main sentence / qualifier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return text, ""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Actions are extracted ONLY from the main sentence.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Contraindications inside caveats are extracted separately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as `contraindicatedFor` relations.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800600"/>
          <a:ext cx="10881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212080"/>
                <a:gridCol w="4572000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Clause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Actions extracted BEFORE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Rec. 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CT follow-up, surgical resection, empirical antibiotics, surgical biopsy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CT follow-up, MDT consultation, CAC test, thin-slice 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 Key Code (2/2): Negation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Algorithmic Innovation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Problem: risk-factor extraction was pure keyword matching. “no smoking history” was counted as “smoking history”.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0881360" cy="228600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NEGATION_PATTERNS = ["no", "not", "never", "denies", "without", "non-", ...]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GLOBAL_NO_RISK    = ["no risk factors", "no smoking history", "non-smoker", ...]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def _has_negation(text, keyword_pos, window=6):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"""Look for a negation within a 6-character window BEFORE the keyword."""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start = max(0, keyword_pos - window)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return any(p in text[start:keyword_pos] for p in NEGATION_PATTERNS)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Effect: Recommendation 10 (no risk factors) and Recommendation 11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        (with risk factors) differ ONLY by risk-factor presence.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        After the fix: clause hit rate 82.2% → 100.0%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 Quantitative Results: Cross-Document Validation on 3 Real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Algorithmic Innovation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48,773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characters (cleaned)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9504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32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clauses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8928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186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object triples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8352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ontology 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37776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0%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human intervention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46120"/>
          <a:ext cx="1088135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7445"/>
                <a:gridCol w="1427063"/>
                <a:gridCol w="981106"/>
                <a:gridCol w="1516255"/>
                <a:gridCol w="1159489"/>
              </a:tblGrid>
              <a:tr h="4914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Chars (cleaned)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Clauses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Object triples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Alignment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Chinese Expert Consensus on Pulmonary Nodule Management (2024)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19,109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Expert Consensus on Lung Cancer Screening &amp; Nodule Health Management (2025)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12,056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Chinese Guideline for Low-Dose CT Lung Cancer Screening (2023)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9,634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F7A4D"/>
                </a:solidFill>
                <a:latin typeface="Calibri"/>
              </a:rPr>
              <a:t>★ The ontology was designed on the 2024 consensus, yet processed the other two documents without modification — direct evidence of generalisation.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Versus fully manual construction: 3.02 hours → 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10. Our Own MCP Server: 6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Orchestration &amp; MCP/Skill Integration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922"/>
                <a:gridCol w="5573379"/>
                <a:gridCol w="2477057"/>
              </a:tblGrid>
              <a:tr h="43760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When it is called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kg_consult_decision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★ Core: multi-hop reasoning + clause-level provenance + contraindication + referral tier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When a full recommendation is needed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kg_lookup_concept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Concept normalisation and definition lookup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When terminology is uncertain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kg_get_clause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Expand a clause (strength + full text)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When the clause number is known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kg_find_clauses_by_nodule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Retrieve clauses by nodule features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Fast lookup / coverage analysis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kg_get_ontology_summary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Ontology overview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When explaining knowledge sources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kg_list_clauses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List all clauses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To state capability boundaries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Protocol: Streamable HTTP (MCP 2024-11-05) · Endpoint http://nexent-mcp:8020/mcp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7A4D"/>
                </a:solidFill>
                <a:latin typeface="Calibri"/>
              </a:rPr>
              <a:t>Status: registered on the platform · all 6 tools mounted on the agent (visible in the UI)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11. Key Code: A Real Problem at the MCP Protocol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Orchestration &amp; MCP/Skill Integration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Problem: calling http://nexent-mcp:8020/mcp between containers returned HTTP 421 Misdirected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0881360" cy="237744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Root cause: FastMCP 2.x enables DNS-rebinding protection by default,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            trusting only localhost — so intra-container calls were rejected.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from mcp.server.transport_security import TransportSecuritySettings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mcp.settings.transport_security = TransportSecuritySettings(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enable_dns_rebinding_protection=False,     # required for container networking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allowed_hosts=[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    "nexent-mcp:8020", "127.0.0.1:8020", "localhost:8020",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],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This is the MCP security mechanism meeting containerised deployment,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7A4D"/>
                </a:solidFill>
                <a:latin typeface="Consolas"/>
              </a:rPr>
              <a:t># not a misconfiguration — understanding that is what makes it fixable.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A365D"/>
                </a:solidFill>
                <a:latin typeface="Calibri"/>
              </a:rPr>
              <a:t>Platform mechanism discovered: MCP tools are NOT registered automatically after adding the server — you must call GET /api/tool/scan_tool to trigger a scan.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12. Skill: Three-Layer Orchestration and Progressive Disclosure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Orchestration &amp; MCP/Skill Integration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852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1554480"/>
              </a:tblGrid>
              <a:tr h="5257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Depends on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L1 Facts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Extract structured patient facts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kg_consult_decision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L2 Reasoning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Ontology match → clause location → action expansion → contraindication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kg_consult_decision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L3 Evidence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Re-check the original clause text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knowledge_base_search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86200"/>
            <a:ext cx="5852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1A365D"/>
                </a:solidFill>
                <a:latin typeface="Calibri"/>
              </a:rPr>
              <a:t>Skill mount status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1F7A4D"/>
                </a:solidFill>
                <a:latin typeface="Calibri"/>
              </a:rPr>
              <a:t>✅ Mounted on the agent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skill_instance_id=1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agent_id=2 · version_no=0 · enabled=true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⚠️ Defining a Skill is not enough — you must also create a row in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    ag_skill_instance_t linking it to the agent, otherwise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    the UI shows “no skill selected”.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54480"/>
            <a:ext cx="4754880" cy="411480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【UI EVIDENCE】The agent loads the Skill itself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Reasoning: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"There's a skill: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lung-nodule-decision.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Must load it first."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This request matches the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lung-nodule-decision skill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description — the skill guide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must be loaded first.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Executed code (PYTHON):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skill_content =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  read_skill_md(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      "lung-nodule-decision")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print(skill_content)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→ This shows Nexent's progressive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skill disclosure at work: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metadata stays in context for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matching; full content is loaded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2B2B2B"/>
                </a:solidFill>
                <a:latin typeface="Consolas"/>
              </a:rPr>
              <a:t>  only on a hit.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13. Three-Layer Refusal Mechanism — The Safety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Orchestration &amp; MCP/Skill Integration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675120"/>
                <a:gridCol w="2468880"/>
              </a:tblGrid>
              <a:tr h="40005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Implemented in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 Engine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Evaluate coverage; return NOT_COVERED when no clause matches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MCP reasoning engine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2. Orchestration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Prompt enforces “ask first when key facts are missing; give no advice”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Agent constraint prompt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3. Presentation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The clarification lists required fields, offers options, omits the disclaimer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Output format constraints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3756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★ We found and fixed a real defect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Test question: “I have a pulmonary nodule, what should I do?” (no nodule diameter given)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Before: 18 tool calls · 59 s · 2,728 characters attempting an answer anyway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Root cause: the engine could refuse, but the orchestration prompt contained no “must ask first” constraint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7A4D"/>
                </a:solidFill>
                <a:latin typeface="Calibri"/>
              </a:rPr>
              <a:t>After: 0 tool calls · 3.5 s · replaced by a structured clarification form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Calibri"/>
              </a:rPr>
              <a:t>The form asks: ① maximum diameter in mm (required) ② density type (single choice) ③ risk factors (multiple choice)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14. Knowledge Base Expansion and 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Business Value of Asset Activation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3396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Knowledge base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Name: Pulmonary Nodule Guideline KB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Store: Elasticsearch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Embedding: BGE-M3 (1024-dim)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Chunks: 17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Modes: hybrid / accurate / semantic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Expansion: upload a document → auto-chunked and vectorised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5544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★ Data processing: corpus cleaning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Calibri"/>
              </a:rPr>
              <a:t>Problem: Word-extracted guidelines contain Zotero citation metadata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Calibri"/>
              </a:rPr>
              <a:t>ADDIN ZOTERO_ITEM CSL_CITATION {...}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Calibri"/>
              </a:rPr>
              <a:t>89% of the 2025 consensus (230,399 chars) was polluted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Calibri"/>
              </a:rPr>
              <a:t>Difficulty: the JSON has nested braces — regex cannot pair them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1F7A4D"/>
                </a:solidFill>
                <a:latin typeface="Calibri"/>
              </a:rPr>
              <a:t>Solution: brace-matching scan (tracking string/escape state)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Effect: Chinese-character ratio 8.5% → 72.2%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881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1A365D"/>
                </a:solidFill>
                <a:latin typeface="Calibri"/>
              </a:rPr>
              <a:t>Data compliance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· No real patient data is used — all knowledge comes from published guidelines and expert consensus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· The evaluation set is generated systematically from clause applicability ranges; the gold standard is the clause number itself, machine-checkable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· The sample imaging report is constructed to a standard format and is labelled “contains no real patient information”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· Data stays on a local server and never leaves the institution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15. Live Demonstration (Three Scenarios)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Interaction Experience &amp; Capability Accumulation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937760"/>
                <a:gridCol w="5486400"/>
              </a:tblGrid>
              <a:tr h="571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it demonstrates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8 mm mGGN + 2 mm solid component + 30-year smoking history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Dual-drive call sequence · clause-level provenance · structured output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“I have a pulmonary nodule, what should I do?” (insufficient info)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★ Interactive clarification form (three-layer refusal mechanism)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“Can PET-CT be used for assessment?”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Conditional contraindication: solid component 2 mm → within the contraindicated range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881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1A365D"/>
                </a:solidFill>
                <a:latin typeface="Calibri"/>
              </a:rPr>
              <a:t>Please watch the Reasoning panel on the right of the debug window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You will see the agent: ① check whether the facts suffice → ② load the Skill → ③ call graph tools to reason → ④ re-check the clause text → ⑤ answer with clause numbers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Measured: typical case 3.4 tool calls / 9.8 s; clarification case 0 calls / 3.5 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16. Capability Accumulation: Workflow Template and Cross-Industry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Generalizable Value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2363"/>
                <a:gridCol w="2720340"/>
                <a:gridCol w="1053034"/>
                <a:gridCol w="965281"/>
                <a:gridCol w="1579552"/>
                <a:gridCol w="1140787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Corpus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Concepts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Clauses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Object triples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Alignment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Healthcare · pulmonary nodule management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Real public guideline (cleaned)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Finance · credit risk review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Sample corpus (234 chars)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004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4D"/>
                </a:solidFill>
                <a:latin typeface="Calibri"/>
              </a:rPr>
              <a:t>Skeleton changed: no. Only the seed ontology, corpus, term lexicon and numeric patterns were replaced.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1A365D"/>
                </a:solidFill>
                <a:latin typeface="Calibri"/>
              </a:rPr>
              <a:t>★ A mechanism discovered during migration: extraction volume is bounded by seed-ontology expressiveness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Calibri"/>
              </a:rPr>
              <a:t>Same consensus, same 18 clauses: the production ontology (52 classes) yields 110 triples; the migration template (14 classes) yields 47 — the difference comes only from ontology granularity.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Practical implication: start migration with a compact ontology to get the skeleton working, then refine; gains in extraction volume should come from ontology refinement, not from the extraction algorithm.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Honest disclosure: no public credit-review standard exists, so the finance domain uses a sample corpus. We validate the pipeline's domain-independence, not that finance reaches the same validation depth as healthcare.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17. Self-Evaluation and Honest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Interaction Experience &amp; Capability Accumulation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68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test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9504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clause hit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8928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8352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refusal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9637776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93.1%</a:t>
            </a:r>
          </a:p>
          <a:p>
            <a:pPr algn="ctr">
              <a:defRPr sz="1050">
                <a:solidFill>
                  <a:srgbClr val="6B6B6B"/>
                </a:solidFill>
                <a:latin typeface="Calibri"/>
              </a:defRPr>
            </a:pPr>
            <a:r>
              <a:t>coverage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004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this evaluation proves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Clause location: the correct clause is found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Threshold decisions: ≤ / &gt; boundaries are right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Traceability: every answer cites clause numbers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Refusal behaviour: clarification when facts are missing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Cross-document consistency: 3 documents, 100% aligned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32004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it does NOT prove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Clinical effectiveness — needs real data and ethics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Safety — needs prospective studies and adverse-event monitoring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Real-case coverage — cases are still constructed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Improved physician decisions — needs a controlled trial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Long-term stability — needs sustained operation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This is a clause-consistency test, not a clinical-effectiveness trial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18. ★ Controlled Comparison: Bare LLM vs Our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Algorithmic Innovation (15%) · Generalizable Value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365D"/>
                </a:solidFill>
                <a:latin typeface="Calibri"/>
              </a:rPr>
              <a:t>The same six clinical questions, routed two ways — let the judges see the difference instead of hearing us self-assess.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5257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381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Bare LLM (DeepSeek-V3)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No knowledge base / no graph / no tools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System prompt: “You are a respiratory physician”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Clause-level citations: 0 / 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Expected Chinese-consensus clause: 0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Tiered referral / MDT / CAC: all absent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Disclaimer: 0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Insufficient information: answers anyway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Sources: 4 unlabelled, 1 cites Fleischner (US)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2057400"/>
          <a:ext cx="5257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381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Our system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Nexent + our knowledge-graph MCP + KB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Full dual retrieval–reasoning flow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Clause-level citations: 6 / 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Expected Chinese-consensus clause: 6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Tiered referral / MDT / CAC: all present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Disclaimer: 6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Insufficient information: clarification 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Calibri"/>
                        </a:rPr>
                        <a:t>Sources: every claim carries a clause number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solidFill>
            <a:srgbClr val="F2F5F9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★ 15 mm mGGN: the bare LLM recommends “thoracoscopic resection”; the Chinese consensus requires “repeat CT at 3 months” first</a:t>
            </a:r>
          </a:p>
          <a:p>
            <a:pPr algn="ctr">
              <a:defRPr sz="1100">
                <a:solidFill>
                  <a:srgbClr val="6B6B6B"/>
                </a:solidFill>
                <a:latin typeface="Calibri"/>
              </a:defRPr>
            </a:pPr>
            <a:r>
              <a:t>Literature reports 31% overdiagnosis for part-solid nodules and 38% in Asian populations — two independent lines of evidence agree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28016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19.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969264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6B6B"/>
                </a:solidFill>
                <a:latin typeface="Calibri"/>
              </a:defRPr>
            </a:pPr>
            <a:r>
              <a:t>▸ Generalizable Value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1A365D"/>
                </a:solidFill>
                <a:latin typeface="Calibri"/>
              </a:rPr>
              <a:t>What we built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A reproducible pipeline from industry documents to executable knowledge, validated end-to-end in one high-value scenario: pulmonary nodule management.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1A365D"/>
                </a:solidFill>
                <a:latin typeface="Calibri"/>
              </a:rPr>
              <a:t>Three reusable outputs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① A semi-automated ontology construction algorithm — 3 real guidelines / 100% alignment / 0% human intervention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② A self-developed knowledge-graph MCP service — 6 tools / mounted / clause-level provenance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③ A domain-agnostic workflow template — validated in healthcare and finance without changing the skeleton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700" b="0">
                <a:solidFill>
                  <a:srgbClr val="BFD4EA"/>
                </a:solidFill>
                <a:latin typeface="Calibri"/>
              </a:rPr>
              <a:t>We welcome your questions and comments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700" b="0">
                <a:solidFill>
                  <a:srgbClr val="BFD4EA"/>
                </a:solidFill>
                <a:latin typeface="Calibri"/>
              </a:rPr>
              <a:t>[University] · [Team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